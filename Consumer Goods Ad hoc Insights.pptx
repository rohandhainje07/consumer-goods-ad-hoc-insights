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73" r:id="rId4"/>
    <p:sldId id="288" r:id="rId5"/>
    <p:sldId id="272" r:id="rId6"/>
    <p:sldId id="274" r:id="rId7"/>
    <p:sldId id="275" r:id="rId8"/>
    <p:sldId id="277" r:id="rId9"/>
    <p:sldId id="276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</p:sldIdLst>
  <p:sldSz cx="18288000" cy="10287000"/>
  <p:notesSz cx="6858000" cy="9144000"/>
  <p:embeddedFontLst>
    <p:embeddedFont>
      <p:font typeface="Liberation Sans" panose="020B0604020202020204" charset="0"/>
      <p:regular r:id="rId32"/>
    </p:embeddedFont>
    <p:embeddedFont>
      <p:font typeface="Ruda Heavy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271D7C-AAC5-43DE-9C4A-56EC85E50156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606AF7-4D35-41D3-BB61-3CC0F77A3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949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06AF7-4D35-41D3-BB61-3CC0F77A3E97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146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8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9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0.xml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1.xml"/><Relationship Id="rId5" Type="http://schemas.openxmlformats.org/officeDocument/2006/relationships/image" Target="../media/image30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2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3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4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68766" y="378606"/>
            <a:ext cx="7405183" cy="985690"/>
            <a:chOff x="0" y="0"/>
            <a:chExt cx="9873577" cy="1314253"/>
          </a:xfrm>
        </p:grpSpPr>
        <p:sp>
          <p:nvSpPr>
            <p:cNvPr id="4" name="Freeform 4"/>
            <p:cNvSpPr/>
            <p:nvPr/>
          </p:nvSpPr>
          <p:spPr>
            <a:xfrm rot="5400000">
              <a:off x="89890" y="-89890"/>
              <a:ext cx="1314253" cy="1494033"/>
            </a:xfrm>
            <a:custGeom>
              <a:avLst/>
              <a:gdLst/>
              <a:ahLst/>
              <a:cxnLst/>
              <a:rect l="l" t="t" r="r" b="b"/>
              <a:pathLst>
                <a:path w="1314253" h="1494033">
                  <a:moveTo>
                    <a:pt x="0" y="0"/>
                  </a:moveTo>
                  <a:lnTo>
                    <a:pt x="1314253" y="0"/>
                  </a:lnTo>
                  <a:lnTo>
                    <a:pt x="1314253" y="1494033"/>
                  </a:lnTo>
                  <a:lnTo>
                    <a:pt x="0" y="1494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2132539" y="20000"/>
              <a:ext cx="7741038" cy="11694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436"/>
                </a:lnSpc>
              </a:pPr>
              <a:r>
                <a:rPr lang="en-US" sz="5312" b="1" spc="159" dirty="0">
                  <a:solidFill>
                    <a:srgbClr val="FFFFFF"/>
                  </a:solidFill>
                  <a:latin typeface="Ruda Heavy"/>
                  <a:ea typeface="Ruda Heavy"/>
                  <a:cs typeface="Ruda Heavy"/>
                  <a:sym typeface="Ruda Heavy"/>
                </a:rPr>
                <a:t>ATLIQ HARDWARE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6764000" y="57951"/>
            <a:ext cx="1387318" cy="1242314"/>
          </a:xfrm>
          <a:custGeom>
            <a:avLst/>
            <a:gdLst/>
            <a:ahLst/>
            <a:cxnLst/>
            <a:rect l="l" t="t" r="r" b="b"/>
            <a:pathLst>
              <a:path w="1604602" h="1570227">
                <a:moveTo>
                  <a:pt x="0" y="0"/>
                </a:moveTo>
                <a:lnTo>
                  <a:pt x="1604602" y="0"/>
                </a:lnTo>
                <a:lnTo>
                  <a:pt x="1604602" y="1570228"/>
                </a:lnTo>
                <a:lnTo>
                  <a:pt x="0" y="15702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68766" y="3445426"/>
            <a:ext cx="16190533" cy="259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00"/>
              </a:lnSpc>
            </a:pPr>
            <a:r>
              <a:rPr lang="en-US" sz="8000" b="1" dirty="0">
                <a:solidFill>
                  <a:srgbClr val="FFFFFF"/>
                </a:solidFill>
                <a:latin typeface="Ruda Heavy"/>
                <a:ea typeface="Ruda Heavy"/>
                <a:cs typeface="Ruda Heavy"/>
                <a:sym typeface="Ruda Heavy"/>
              </a:rPr>
              <a:t>Consumer Goods AD-HOC Insights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977813" y="8396667"/>
            <a:ext cx="6028351" cy="1047032"/>
            <a:chOff x="0" y="0"/>
            <a:chExt cx="8037801" cy="1396042"/>
          </a:xfrm>
        </p:grpSpPr>
        <p:sp>
          <p:nvSpPr>
            <p:cNvPr id="11" name="TextBox 11"/>
            <p:cNvSpPr txBox="1"/>
            <p:nvPr/>
          </p:nvSpPr>
          <p:spPr>
            <a:xfrm>
              <a:off x="0" y="723154"/>
              <a:ext cx="8037801" cy="672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160"/>
                </a:lnSpc>
              </a:pPr>
              <a:r>
                <a:rPr lang="en-US" sz="3200" b="1">
                  <a:solidFill>
                    <a:srgbClr val="FFFFFF"/>
                  </a:solidFill>
                  <a:latin typeface="Ruda Heavy"/>
                  <a:ea typeface="Ruda Heavy"/>
                  <a:cs typeface="Ruda Heavy"/>
                  <a:sym typeface="Ruda Heavy"/>
                </a:rPr>
                <a:t>Rohan Dhainje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8037801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600"/>
                </a:lnSpc>
              </a:pPr>
              <a:r>
                <a:rPr lang="en-US" sz="3000">
                  <a:solidFill>
                    <a:srgbClr val="FFFFFF"/>
                  </a:solidFill>
                  <a:latin typeface="Liberation Sans"/>
                  <a:ea typeface="Liberation Sans"/>
                  <a:cs typeface="Liberation Sans"/>
                  <a:sym typeface="Liberation Sans"/>
                </a:rPr>
                <a:t>Presented By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162620" y="1521116"/>
            <a:ext cx="355856" cy="8765884"/>
            <a:chOff x="0" y="0"/>
            <a:chExt cx="474475" cy="11687845"/>
          </a:xfrm>
        </p:grpSpPr>
        <p:sp>
          <p:nvSpPr>
            <p:cNvPr id="7" name="AutoShape 7"/>
            <p:cNvSpPr/>
            <p:nvPr/>
          </p:nvSpPr>
          <p:spPr>
            <a:xfrm rot="5400000">
              <a:off x="-5375385" y="6068873"/>
              <a:ext cx="11225244" cy="0"/>
            </a:xfrm>
            <a:prstGeom prst="line">
              <a:avLst/>
            </a:prstGeom>
            <a:ln w="12700" cap="flat">
              <a:solidFill>
                <a:srgbClr val="30D681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474475" cy="462601"/>
              <a:chOff x="0" y="0"/>
              <a:chExt cx="139425" cy="13593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39425" cy="135936"/>
              </a:xfrm>
              <a:custGeom>
                <a:avLst/>
                <a:gdLst/>
                <a:ahLst/>
                <a:cxnLst/>
                <a:rect l="l" t="t" r="r" b="b"/>
                <a:pathLst>
                  <a:path w="139425" h="135936">
                    <a:moveTo>
                      <a:pt x="69712" y="0"/>
                    </a:moveTo>
                    <a:cubicBezTo>
                      <a:pt x="31211" y="0"/>
                      <a:pt x="0" y="30430"/>
                      <a:pt x="0" y="67968"/>
                    </a:cubicBezTo>
                    <a:cubicBezTo>
                      <a:pt x="0" y="105505"/>
                      <a:pt x="31211" y="135936"/>
                      <a:pt x="69712" y="135936"/>
                    </a:cubicBezTo>
                    <a:cubicBezTo>
                      <a:pt x="108213" y="135936"/>
                      <a:pt x="139425" y="105505"/>
                      <a:pt x="139425" y="67968"/>
                    </a:cubicBezTo>
                    <a:cubicBezTo>
                      <a:pt x="139425" y="30430"/>
                      <a:pt x="108213" y="0"/>
                      <a:pt x="69712" y="0"/>
                    </a:cubicBezTo>
                    <a:close/>
                  </a:path>
                </a:pathLst>
              </a:custGeom>
              <a:solidFill>
                <a:srgbClr val="30D681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3071" y="-15831"/>
                <a:ext cx="113282" cy="1390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</p:grpSp>
      <p:sp>
        <p:nvSpPr>
          <p:cNvPr id="11" name="Freeform 11"/>
          <p:cNvSpPr/>
          <p:nvPr/>
        </p:nvSpPr>
        <p:spPr>
          <a:xfrm flipH="1">
            <a:off x="0" y="0"/>
            <a:ext cx="3960316" cy="3960316"/>
          </a:xfrm>
          <a:custGeom>
            <a:avLst/>
            <a:gdLst/>
            <a:ahLst/>
            <a:cxnLst/>
            <a:rect l="l" t="t" r="r" b="b"/>
            <a:pathLst>
              <a:path w="3960316" h="3960316">
                <a:moveTo>
                  <a:pt x="3960316" y="0"/>
                </a:moveTo>
                <a:lnTo>
                  <a:pt x="0" y="0"/>
                </a:lnTo>
                <a:lnTo>
                  <a:pt x="0" y="3960316"/>
                </a:lnTo>
                <a:lnTo>
                  <a:pt x="3960316" y="3960316"/>
                </a:lnTo>
                <a:lnTo>
                  <a:pt x="3960316" y="0"/>
                </a:lnTo>
                <a:close/>
              </a:path>
            </a:pathLst>
          </a:custGeom>
          <a:blipFill>
            <a:blip>
              <a:alphaModFix amt="7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068584" y="2153270"/>
            <a:ext cx="49253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00"/>
              </a:lnSpc>
            </a:pPr>
            <a:r>
              <a:rPr lang="en-US" sz="9000" b="1" dirty="0">
                <a:solidFill>
                  <a:srgbClr val="FFFFFF"/>
                </a:solidFill>
                <a:latin typeface="Ruda Heavy"/>
                <a:ea typeface="Ruda Heavy"/>
                <a:cs typeface="Ruda Heavy"/>
                <a:sym typeface="Ruda Heavy"/>
              </a:rPr>
              <a:t>Agenda</a:t>
            </a:r>
          </a:p>
        </p:txBody>
      </p:sp>
      <p:sp>
        <p:nvSpPr>
          <p:cNvPr id="13" name="Freeform 13"/>
          <p:cNvSpPr/>
          <p:nvPr/>
        </p:nvSpPr>
        <p:spPr>
          <a:xfrm rot="5400000">
            <a:off x="16219416" y="8218416"/>
            <a:ext cx="2068584" cy="2068584"/>
          </a:xfrm>
          <a:custGeom>
            <a:avLst/>
            <a:gdLst/>
            <a:ahLst/>
            <a:cxnLst/>
            <a:rect l="l" t="t" r="r" b="b"/>
            <a:pathLst>
              <a:path w="2068584" h="2068584">
                <a:moveTo>
                  <a:pt x="0" y="0"/>
                </a:moveTo>
                <a:lnTo>
                  <a:pt x="2068584" y="0"/>
                </a:lnTo>
                <a:lnTo>
                  <a:pt x="2068584" y="2068584"/>
                </a:lnTo>
                <a:lnTo>
                  <a:pt x="0" y="20685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FB2470-F577-1A62-3047-4498BF980095}"/>
              </a:ext>
            </a:extLst>
          </p:cNvPr>
          <p:cNvSpPr txBox="1"/>
          <p:nvPr/>
        </p:nvSpPr>
        <p:spPr>
          <a:xfrm>
            <a:off x="9372600" y="2800970"/>
            <a:ext cx="751032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4000" dirty="0">
                <a:solidFill>
                  <a:schemeClr val="bg1">
                    <a:lumMod val="85000"/>
                  </a:schemeClr>
                </a:solidFill>
              </a:rPr>
              <a:t>Company Overview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4000" dirty="0">
                <a:solidFill>
                  <a:schemeClr val="bg1">
                    <a:lumMod val="85000"/>
                  </a:schemeClr>
                </a:solidFill>
              </a:rPr>
              <a:t>Problem Statement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4000" dirty="0">
                <a:solidFill>
                  <a:schemeClr val="bg1">
                    <a:lumMod val="85000"/>
                  </a:schemeClr>
                </a:solidFill>
              </a:rPr>
              <a:t>Dataset Overview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4000" dirty="0">
                <a:solidFill>
                  <a:schemeClr val="bg1">
                    <a:lumMod val="85000"/>
                  </a:schemeClr>
                </a:solidFill>
              </a:rPr>
              <a:t>Database Schema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4000" dirty="0">
                <a:solidFill>
                  <a:schemeClr val="bg1">
                    <a:lumMod val="85000"/>
                  </a:schemeClr>
                </a:solidFill>
              </a:rPr>
              <a:t>Tools Used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4000" dirty="0">
                <a:solidFill>
                  <a:schemeClr val="bg1">
                    <a:lumMod val="85000"/>
                  </a:schemeClr>
                </a:solidFill>
              </a:rPr>
              <a:t>Ad-Hoc Business Requests &amp; Insights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4000" dirty="0">
                <a:solidFill>
                  <a:schemeClr val="bg1">
                    <a:lumMod val="85000"/>
                  </a:schemeClr>
                </a:solidFill>
              </a:rPr>
              <a:t>Recommendations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4000" dirty="0">
                <a:solidFill>
                  <a:schemeClr val="bg1">
                    <a:lumMod val="85000"/>
                  </a:schemeClr>
                </a:solidFill>
              </a:rPr>
              <a:t>Thank You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2EADCE-EDBF-4426-6097-2EDA3ABFA887}"/>
              </a:ext>
            </a:extLst>
          </p:cNvPr>
          <p:cNvSpPr txBox="1"/>
          <p:nvPr/>
        </p:nvSpPr>
        <p:spPr>
          <a:xfrm>
            <a:off x="1600200" y="1104900"/>
            <a:ext cx="8382000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9900"/>
              </a:lnSpc>
              <a:defRPr sz="9000" b="1">
                <a:solidFill>
                  <a:srgbClr val="FFFFFF"/>
                </a:solidFill>
                <a:latin typeface="Ruda Heavy"/>
                <a:ea typeface="Ruda Heavy"/>
                <a:cs typeface="Ruda Heavy"/>
              </a:defRPr>
            </a:lvl1pPr>
          </a:lstStyle>
          <a:p>
            <a:r>
              <a:rPr lang="en-IN" sz="8000" dirty="0">
                <a:latin typeface="+mj-lt"/>
              </a:rPr>
              <a:t>Company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14D957-F794-D6FD-DC4A-22648F2A5CC7}"/>
              </a:ext>
            </a:extLst>
          </p:cNvPr>
          <p:cNvSpPr txBox="1"/>
          <p:nvPr/>
        </p:nvSpPr>
        <p:spPr>
          <a:xfrm>
            <a:off x="1458686" y="3435340"/>
            <a:ext cx="1317171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AtliQ Hardware is a consumer goods company.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It manufactures and sells computer hardware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The company operates in multiple markets and sales channels.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The management team requested 10 ad-hoc business requests to gain insights and support data-driven decision-making.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5ED696-8C24-6DD4-93BF-4E9BD2A121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2600" y="38205"/>
            <a:ext cx="1066800" cy="108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8460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94B7A3-4370-7AE7-0981-DCFBB02AFAAD}"/>
              </a:ext>
            </a:extLst>
          </p:cNvPr>
          <p:cNvSpPr txBox="1"/>
          <p:nvPr/>
        </p:nvSpPr>
        <p:spPr>
          <a:xfrm>
            <a:off x="1600200" y="1104900"/>
            <a:ext cx="8382000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lvl="0" indent="0">
              <a:lnSpc>
                <a:spcPts val="9900"/>
              </a:lnSpc>
              <a:defRPr sz="9000" b="1">
                <a:solidFill>
                  <a:srgbClr val="FFFFFF"/>
                </a:solidFill>
                <a:latin typeface="Ruda Heavy"/>
                <a:ea typeface="Ruda Heavy"/>
                <a:cs typeface="Ruda Heavy"/>
              </a:defRPr>
            </a:lvl1pPr>
          </a:lstStyle>
          <a:p>
            <a:r>
              <a:rPr lang="en-IN" sz="8000" dirty="0">
                <a:latin typeface="+mj-lt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E5816E-A43E-41FB-4F39-0F23293270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3986" y="27319"/>
            <a:ext cx="1066800" cy="10830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45421E-71F3-409A-2D7F-E0B5F51550C6}"/>
              </a:ext>
            </a:extLst>
          </p:cNvPr>
          <p:cNvSpPr txBox="1"/>
          <p:nvPr/>
        </p:nvSpPr>
        <p:spPr>
          <a:xfrm>
            <a:off x="1600200" y="3238500"/>
            <a:ext cx="1317171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Management noticed a lack of insights for quick, smart data-informed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Decision made to expand the data analytics team with several junior data analysts.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Tony Sharma, the data analytics director, seeks candidates with strong tech and soft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4000" dirty="0">
                <a:solidFill>
                  <a:schemeClr val="bg1"/>
                </a:solidFill>
              </a:rPr>
              <a:t>To evaluate these skills, Tony decided to conduct a SQL challenge.</a:t>
            </a:r>
          </a:p>
        </p:txBody>
      </p:sp>
    </p:spTree>
    <p:extLst>
      <p:ext uri="{BB962C8B-B14F-4D97-AF65-F5344CB8AC3E}">
        <p14:creationId xmlns:p14="http://schemas.microsoft.com/office/powerpoint/2010/main" val="961861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0B7982-A2E3-6345-EB47-5BC2BB3829A0}"/>
              </a:ext>
            </a:extLst>
          </p:cNvPr>
          <p:cNvSpPr txBox="1"/>
          <p:nvPr/>
        </p:nvSpPr>
        <p:spPr>
          <a:xfrm>
            <a:off x="1447800" y="1028700"/>
            <a:ext cx="9296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solidFill>
                  <a:schemeClr val="bg1"/>
                </a:solidFill>
                <a:latin typeface="+mj-lt"/>
              </a:rPr>
              <a:t>Dataset Overview</a:t>
            </a:r>
            <a:endParaRPr lang="en-IN" sz="80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D5BF3E-7416-4AD5-2B8B-7C281E3F589A}"/>
              </a:ext>
            </a:extLst>
          </p:cNvPr>
          <p:cNvSpPr txBox="1"/>
          <p:nvPr/>
        </p:nvSpPr>
        <p:spPr>
          <a:xfrm>
            <a:off x="1752600" y="2857500"/>
            <a:ext cx="124206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The dataset is based on AtliQ Hardware, a consumer goods company.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It contains sales, customer, product, pricing, manufacturing cost, and discount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The analysis covers Fiscal Years 2020 and 2021.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The dataset includes multiple markets, sales channels, and product divisions.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>
                    <a:lumMod val="95000"/>
                  </a:schemeClr>
                </a:solidFill>
              </a:rPr>
              <a:t>It consists of 6 main tables:  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2EE3C9-4DB1-ACDF-9509-124697F950C0}"/>
              </a:ext>
            </a:extLst>
          </p:cNvPr>
          <p:cNvSpPr txBox="1"/>
          <p:nvPr/>
        </p:nvSpPr>
        <p:spPr>
          <a:xfrm>
            <a:off x="2286000" y="6438900"/>
            <a:ext cx="5257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Dim Customer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Dim Product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Fact Sales Monthly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Fact Gross Price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Fact Manufacturing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</a:rPr>
              <a:t>Fact Pre Invoice Deductions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D35A7-F746-7E9D-1A25-4155717367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800" y="38100"/>
            <a:ext cx="1066800" cy="108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846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532678-E600-7A8A-42B9-7F0AA6A01A5C}"/>
              </a:ext>
            </a:extLst>
          </p:cNvPr>
          <p:cNvSpPr txBox="1"/>
          <p:nvPr/>
        </p:nvSpPr>
        <p:spPr>
          <a:xfrm>
            <a:off x="1295400" y="952500"/>
            <a:ext cx="838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solidFill>
                  <a:schemeClr val="bg1"/>
                </a:solidFill>
              </a:rPr>
              <a:t>Database Schema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4E450E-DE3A-C773-D834-7164B63960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275939"/>
            <a:ext cx="14782800" cy="784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41386D-075F-6E15-0B7E-9996E4EE83C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2600" y="0"/>
            <a:ext cx="109349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703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E50E38-57D6-5D0B-ECEE-289FE151C65A}"/>
              </a:ext>
            </a:extLst>
          </p:cNvPr>
          <p:cNvSpPr txBox="1"/>
          <p:nvPr/>
        </p:nvSpPr>
        <p:spPr>
          <a:xfrm>
            <a:off x="1371600" y="1104900"/>
            <a:ext cx="8153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solidFill>
                  <a:schemeClr val="bg1"/>
                </a:solidFill>
                <a:latin typeface="+mj-lt"/>
              </a:rPr>
              <a:t>Tools used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83E7FD-A972-CFB7-3A68-195AE8F498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2110" y="-21771"/>
            <a:ext cx="1245890" cy="1219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F36378-5F7C-B7CF-4FC1-A15A5C2DA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598" y="3592286"/>
            <a:ext cx="1828802" cy="18288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3C6B30-31CC-6359-D8A0-BBA142D7D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4001" y="3592286"/>
            <a:ext cx="1828802" cy="18288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13128E-4C02-286F-C4AF-9A348F2BEA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1573" y="7048500"/>
            <a:ext cx="2146853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66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378393-714B-1376-8A1A-E12E023850EC}"/>
              </a:ext>
            </a:extLst>
          </p:cNvPr>
          <p:cNvSpPr txBox="1"/>
          <p:nvPr/>
        </p:nvSpPr>
        <p:spPr>
          <a:xfrm flipH="1">
            <a:off x="533400" y="190500"/>
            <a:ext cx="128454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>
                <a:solidFill>
                  <a:schemeClr val="bg1"/>
                </a:solidFill>
                <a:latin typeface="+mj-lt"/>
              </a:rPr>
              <a:t>Ad-hoc requests and insights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6EF3D7-6A87-8763-1533-57AA08C62A9D}"/>
              </a:ext>
            </a:extLst>
          </p:cNvPr>
          <p:cNvSpPr/>
          <p:nvPr/>
        </p:nvSpPr>
        <p:spPr>
          <a:xfrm>
            <a:off x="533400" y="1714500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Request 1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56584-6739-AD33-518E-9611397F390D}"/>
              </a:ext>
            </a:extLst>
          </p:cNvPr>
          <p:cNvSpPr txBox="1"/>
          <p:nvPr/>
        </p:nvSpPr>
        <p:spPr>
          <a:xfrm>
            <a:off x="560614" y="3314700"/>
            <a:ext cx="146793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Provide the list of markets in which customer </a:t>
            </a:r>
            <a:r>
              <a:rPr lang="en-IN" sz="3600" b="1" dirty="0">
                <a:solidFill>
                  <a:schemeClr val="bg1"/>
                </a:solidFill>
              </a:rPr>
              <a:t>"AtliQ Exclusive" </a:t>
            </a:r>
            <a:r>
              <a:rPr lang="en-IN" sz="3600" dirty="0">
                <a:solidFill>
                  <a:schemeClr val="bg1"/>
                </a:solidFill>
              </a:rPr>
              <a:t>operates its business in the APAC region.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C3BD0A-49D1-8CD9-9636-19950F8B3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143500"/>
            <a:ext cx="2971800" cy="4191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D582B7-C975-4CBE-5011-48E26826BAB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0" y="-10886"/>
            <a:ext cx="1278547" cy="125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900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1F83A7-C13A-61AF-523B-15E192526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90500"/>
            <a:ext cx="9220200" cy="516527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D3065B-3235-8719-3C9A-DDC6261E3297}"/>
              </a:ext>
            </a:extLst>
          </p:cNvPr>
          <p:cNvSpPr/>
          <p:nvPr/>
        </p:nvSpPr>
        <p:spPr>
          <a:xfrm>
            <a:off x="914400" y="6210300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Insights</a:t>
            </a:r>
            <a:r>
              <a:rPr lang="en-IN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8AE0F9-3554-A5E0-EADC-B9402C19183B}"/>
              </a:ext>
            </a:extLst>
          </p:cNvPr>
          <p:cNvSpPr txBox="1"/>
          <p:nvPr/>
        </p:nvSpPr>
        <p:spPr>
          <a:xfrm>
            <a:off x="914400" y="7886700"/>
            <a:ext cx="15316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AtliQ Exclusive</a:t>
            </a:r>
            <a:r>
              <a:rPr lang="en-IN" sz="3600" dirty="0">
                <a:solidFill>
                  <a:schemeClr val="bg1"/>
                </a:solidFill>
              </a:rPr>
              <a:t> operates in 8 markets within the APAC region, indicating a strong regional presence.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BE4DE4-427F-7AA6-8BF4-31C2BDBB02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9453" y="0"/>
            <a:ext cx="1278547" cy="125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551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B946A9-7890-F9D8-7A9A-2A12A67B19B7}"/>
              </a:ext>
            </a:extLst>
          </p:cNvPr>
          <p:cNvSpPr/>
          <p:nvPr/>
        </p:nvSpPr>
        <p:spPr>
          <a:xfrm>
            <a:off x="457200" y="800100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Request 2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63EBDF-F7EA-9F14-0DAF-188C27C40000}"/>
              </a:ext>
            </a:extLst>
          </p:cNvPr>
          <p:cNvSpPr txBox="1"/>
          <p:nvPr/>
        </p:nvSpPr>
        <p:spPr>
          <a:xfrm>
            <a:off x="457200" y="2476500"/>
            <a:ext cx="146793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What is the percentage of unique product increase in 2021 vs. 2020? The final output contains these fields, unique_products_2020 ,unique_products_2021</a:t>
            </a:r>
          </a:p>
          <a:p>
            <a:r>
              <a:rPr lang="en-IN" sz="3600" dirty="0" err="1">
                <a:solidFill>
                  <a:schemeClr val="bg1"/>
                </a:solidFill>
              </a:rPr>
              <a:t>percentage_chg</a:t>
            </a:r>
            <a:r>
              <a:rPr lang="en-IN" sz="3600" dirty="0">
                <a:solidFill>
                  <a:schemeClr val="bg1"/>
                </a:solidFill>
              </a:rPr>
              <a:t> 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3D95C0-50A1-2BA1-6C25-39150421C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6362700"/>
            <a:ext cx="10896600" cy="144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AE3C5C-E926-F0C4-D007-C1BC2C91CD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9453" y="0"/>
            <a:ext cx="1278547" cy="125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133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8A5249-D452-A653-1F69-5204EBC4E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800100"/>
            <a:ext cx="7696200" cy="4648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00BFB60-EE1C-7F2B-6483-EFA8ED37E802}"/>
              </a:ext>
            </a:extLst>
          </p:cNvPr>
          <p:cNvSpPr/>
          <p:nvPr/>
        </p:nvSpPr>
        <p:spPr>
          <a:xfrm>
            <a:off x="8915400" y="2272392"/>
            <a:ext cx="1752599" cy="922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C72A4A-D59E-8C2E-2BEF-E1CD1A1D6159}"/>
              </a:ext>
            </a:extLst>
          </p:cNvPr>
          <p:cNvSpPr txBox="1"/>
          <p:nvPr/>
        </p:nvSpPr>
        <p:spPr>
          <a:xfrm>
            <a:off x="9144000" y="2487386"/>
            <a:ext cx="1006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36.33 %</a:t>
            </a: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8C3A66C2-2681-FD71-4DFD-BB8A8EE894E4}"/>
              </a:ext>
            </a:extLst>
          </p:cNvPr>
          <p:cNvSpPr/>
          <p:nvPr/>
        </p:nvSpPr>
        <p:spPr>
          <a:xfrm>
            <a:off x="10104665" y="2487386"/>
            <a:ext cx="228600" cy="381000"/>
          </a:xfrm>
          <a:prstGeom prst="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94041E0-4A6A-A228-F5A8-E4E0C0351932}"/>
              </a:ext>
            </a:extLst>
          </p:cNvPr>
          <p:cNvSpPr/>
          <p:nvPr/>
        </p:nvSpPr>
        <p:spPr>
          <a:xfrm>
            <a:off x="838200" y="5676900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Insights</a:t>
            </a:r>
            <a:r>
              <a:rPr lang="en-IN" dirty="0"/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DAC87E-7C99-29F2-F547-32D46D6FA10A}"/>
              </a:ext>
            </a:extLst>
          </p:cNvPr>
          <p:cNvSpPr txBox="1"/>
          <p:nvPr/>
        </p:nvSpPr>
        <p:spPr>
          <a:xfrm>
            <a:off x="990600" y="7277100"/>
            <a:ext cx="15163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The number of unique products increased by 36.33 % in 2021 compared to 2020.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The increase reflects the company's focus on expanding its product range.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1C61AF-0489-24A2-9E1F-91D159E241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9453" y="-5443"/>
            <a:ext cx="1278547" cy="125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54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812B55-2C2B-0B31-3145-8D7813D1E3E1}"/>
              </a:ext>
            </a:extLst>
          </p:cNvPr>
          <p:cNvSpPr/>
          <p:nvPr/>
        </p:nvSpPr>
        <p:spPr>
          <a:xfrm>
            <a:off x="457200" y="800100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Request 3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FD5928-BE01-0B1C-CE9C-185C251AC935}"/>
              </a:ext>
            </a:extLst>
          </p:cNvPr>
          <p:cNvSpPr txBox="1"/>
          <p:nvPr/>
        </p:nvSpPr>
        <p:spPr>
          <a:xfrm>
            <a:off x="457200" y="2476500"/>
            <a:ext cx="14935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Provide a report with all the unique product counts for each segment and sort them in descending order of product counts. The final output contains 2 fields, segment and </a:t>
            </a:r>
            <a:r>
              <a:rPr lang="en-IN" sz="3600" dirty="0" err="1">
                <a:solidFill>
                  <a:schemeClr val="bg1"/>
                </a:solidFill>
              </a:rPr>
              <a:t>product_count</a:t>
            </a:r>
            <a:r>
              <a:rPr lang="en-IN" sz="3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DE1D75-2A8B-3B26-6665-61C559EE95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9453" y="-5443"/>
            <a:ext cx="1278547" cy="12511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06382F-3BA5-97E7-9CAD-76F16496A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5372100"/>
            <a:ext cx="50292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644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99888B-5C44-6C33-2422-EA45C7DF7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42900"/>
            <a:ext cx="9601200" cy="4953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E57C145-4B15-D8C5-4AB1-66D02A2F8B33}"/>
              </a:ext>
            </a:extLst>
          </p:cNvPr>
          <p:cNvSpPr/>
          <p:nvPr/>
        </p:nvSpPr>
        <p:spPr>
          <a:xfrm>
            <a:off x="838200" y="5676900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Insights</a:t>
            </a:r>
            <a:r>
              <a:rPr lang="en-IN" dirty="0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F17C5C-2342-961B-28CE-DF275CEA03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400" y="0"/>
            <a:ext cx="1278547" cy="12511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DCC9F1-EFB6-BC0E-5297-E6A41E5CA634}"/>
              </a:ext>
            </a:extLst>
          </p:cNvPr>
          <p:cNvSpPr txBox="1"/>
          <p:nvPr/>
        </p:nvSpPr>
        <p:spPr>
          <a:xfrm>
            <a:off x="838200" y="7330976"/>
            <a:ext cx="14935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82.87% of the total unique products belong to the Notebook, Accessories, and Peripherals segments.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Only 17.13% of the total unique products belong to Desktop, Storage, and Networking segments.</a:t>
            </a:r>
          </a:p>
        </p:txBody>
      </p:sp>
    </p:spTree>
    <p:extLst>
      <p:ext uri="{BB962C8B-B14F-4D97-AF65-F5344CB8AC3E}">
        <p14:creationId xmlns:p14="http://schemas.microsoft.com/office/powerpoint/2010/main" val="152988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AAFF8F-C1D9-AE7B-ECAA-CD5C3C8FE4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682" y="0"/>
            <a:ext cx="1278547" cy="125115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923D128-C38A-5FC0-9AA7-E549A21FB10F}"/>
              </a:ext>
            </a:extLst>
          </p:cNvPr>
          <p:cNvSpPr/>
          <p:nvPr/>
        </p:nvSpPr>
        <p:spPr>
          <a:xfrm>
            <a:off x="457200" y="800100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Request 4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BEFB8-5D6E-DAAD-5744-4973D4116B9E}"/>
              </a:ext>
            </a:extLst>
          </p:cNvPr>
          <p:cNvSpPr txBox="1"/>
          <p:nvPr/>
        </p:nvSpPr>
        <p:spPr>
          <a:xfrm>
            <a:off x="457200" y="2476500"/>
            <a:ext cx="157684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Follow-up: Which segment had the most increase in unique products in 2021 vs 2020? The final output contains these fields, segment , product_count_2020, product_count_2021 and difference.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9D44E3-5906-3FE9-F4F5-BEC66018E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914900"/>
            <a:ext cx="99060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977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1ED488-5C79-8091-1E41-34B41CB439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682" y="0"/>
            <a:ext cx="1278547" cy="12511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9FD6E9-3AED-E3E0-DB38-7B97C4B76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342900"/>
            <a:ext cx="9220200" cy="52578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83B59DB-14E9-5C34-2206-75121CECEBFF}"/>
              </a:ext>
            </a:extLst>
          </p:cNvPr>
          <p:cNvSpPr/>
          <p:nvPr/>
        </p:nvSpPr>
        <p:spPr>
          <a:xfrm>
            <a:off x="609600" y="5753100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Insights</a:t>
            </a:r>
            <a:r>
              <a:rPr lang="en-IN" dirty="0"/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940053-6380-E061-9B48-2E3B9BE43226}"/>
              </a:ext>
            </a:extLst>
          </p:cNvPr>
          <p:cNvSpPr txBox="1"/>
          <p:nvPr/>
        </p:nvSpPr>
        <p:spPr>
          <a:xfrm>
            <a:off x="609600" y="7277100"/>
            <a:ext cx="14325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Accessories had the highest increase, adding 34 unique products in 2021.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Notebook and Peripherals each added 16 unique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Networking had the smallest increase, with only 3 new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911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718BA01-14D3-73C3-6F3D-1267CBFFD1B5}"/>
              </a:ext>
            </a:extLst>
          </p:cNvPr>
          <p:cNvSpPr/>
          <p:nvPr/>
        </p:nvSpPr>
        <p:spPr>
          <a:xfrm>
            <a:off x="533400" y="800100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Request 5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2D70DD-08A7-95DD-E297-7E0650857743}"/>
              </a:ext>
            </a:extLst>
          </p:cNvPr>
          <p:cNvSpPr txBox="1"/>
          <p:nvPr/>
        </p:nvSpPr>
        <p:spPr>
          <a:xfrm>
            <a:off x="533400" y="2552700"/>
            <a:ext cx="13944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Get the products that have the highest and lowest manufacturing costs. The final output should contain these fields, </a:t>
            </a:r>
            <a:r>
              <a:rPr lang="en-IN" sz="3600" dirty="0" err="1">
                <a:solidFill>
                  <a:schemeClr val="bg1"/>
                </a:solidFill>
              </a:rPr>
              <a:t>product_code</a:t>
            </a:r>
            <a:r>
              <a:rPr lang="en-IN" sz="3600" dirty="0">
                <a:solidFill>
                  <a:schemeClr val="bg1"/>
                </a:solidFill>
              </a:rPr>
              <a:t>,</a:t>
            </a:r>
          </a:p>
          <a:p>
            <a:r>
              <a:rPr lang="en-IN" sz="3600" dirty="0">
                <a:solidFill>
                  <a:schemeClr val="bg1"/>
                </a:solidFill>
              </a:rPr>
              <a:t>product, </a:t>
            </a:r>
            <a:r>
              <a:rPr lang="en-IN" sz="3600" dirty="0" err="1">
                <a:solidFill>
                  <a:schemeClr val="bg1"/>
                </a:solidFill>
              </a:rPr>
              <a:t>manufacturing_cost</a:t>
            </a:r>
            <a:r>
              <a:rPr lang="en-IN" sz="3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EF7861-1611-148A-43F6-16FF6771FF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2239" y="32657"/>
            <a:ext cx="1278547" cy="12511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829998-71CB-9E57-F5EE-8313D64CE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5600700"/>
            <a:ext cx="11658600" cy="232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814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3E617A-A6BE-19DD-122E-38E188E8AA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1353" y="0"/>
            <a:ext cx="1278547" cy="12511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1C1BBD-CAAA-5FED-30F3-D35A29DC4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1905080"/>
            <a:ext cx="3581400" cy="3276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0F3369-507F-1F9B-0665-E1688AAF97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3857"/>
          <a:stretch>
            <a:fillRect/>
          </a:stretch>
        </p:blipFill>
        <p:spPr>
          <a:xfrm>
            <a:off x="9882868" y="1905080"/>
            <a:ext cx="3823605" cy="3276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658220-F853-39C2-6892-8C0F4747595B}"/>
              </a:ext>
            </a:extLst>
          </p:cNvPr>
          <p:cNvSpPr txBox="1"/>
          <p:nvPr/>
        </p:nvSpPr>
        <p:spPr>
          <a:xfrm>
            <a:off x="2212521" y="5375448"/>
            <a:ext cx="3238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AQ HOME Allin1 Gen 2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          240.54$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84000-C151-5C86-0633-B6D815B6A957}"/>
              </a:ext>
            </a:extLst>
          </p:cNvPr>
          <p:cNvSpPr txBox="1"/>
          <p:nvPr/>
        </p:nvSpPr>
        <p:spPr>
          <a:xfrm>
            <a:off x="10175420" y="5375448"/>
            <a:ext cx="3238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AQ Master wired x1 Ms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                 0.89$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55104B2-A8B3-ED58-E1B3-5E9DA5592E20}"/>
              </a:ext>
            </a:extLst>
          </p:cNvPr>
          <p:cNvSpPr/>
          <p:nvPr/>
        </p:nvSpPr>
        <p:spPr>
          <a:xfrm>
            <a:off x="2041071" y="940160"/>
            <a:ext cx="3581400" cy="62199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CCFBD4-F941-2222-D228-F71BD1505127}"/>
              </a:ext>
            </a:extLst>
          </p:cNvPr>
          <p:cNvSpPr txBox="1"/>
          <p:nvPr/>
        </p:nvSpPr>
        <p:spPr>
          <a:xfrm>
            <a:off x="2057400" y="1020323"/>
            <a:ext cx="382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Highest manufacturing cost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E70BDE-85CD-13C5-F936-B02B524EBD40}"/>
              </a:ext>
            </a:extLst>
          </p:cNvPr>
          <p:cNvSpPr/>
          <p:nvPr/>
        </p:nvSpPr>
        <p:spPr>
          <a:xfrm>
            <a:off x="10003971" y="919193"/>
            <a:ext cx="3581400" cy="62199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E377EB-1BFC-4674-CD06-AA0457862722}"/>
              </a:ext>
            </a:extLst>
          </p:cNvPr>
          <p:cNvSpPr txBox="1"/>
          <p:nvPr/>
        </p:nvSpPr>
        <p:spPr>
          <a:xfrm>
            <a:off x="10070647" y="1020323"/>
            <a:ext cx="3823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Lowest manufacturing cost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F0F63C0-07E8-D697-B48E-F6C9F3F2B51F}"/>
              </a:ext>
            </a:extLst>
          </p:cNvPr>
          <p:cNvSpPr/>
          <p:nvPr/>
        </p:nvSpPr>
        <p:spPr>
          <a:xfrm>
            <a:off x="457200" y="6473008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Insights</a:t>
            </a:r>
            <a:r>
              <a:rPr lang="en-IN" dirty="0"/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C5C4F7-C89E-B7BB-F597-4113D7911A6F}"/>
              </a:ext>
            </a:extLst>
          </p:cNvPr>
          <p:cNvSpPr txBox="1"/>
          <p:nvPr/>
        </p:nvSpPr>
        <p:spPr>
          <a:xfrm>
            <a:off x="457200" y="8115300"/>
            <a:ext cx="14554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AQ HOME Allin1 Gen 2 has the highest manufacturing cost of </a:t>
            </a:r>
            <a:r>
              <a:rPr lang="en-IN" sz="3600" b="1" dirty="0">
                <a:solidFill>
                  <a:schemeClr val="bg1"/>
                </a:solidFill>
              </a:rPr>
              <a:t>240.54</a:t>
            </a:r>
            <a:r>
              <a:rPr lang="en-IN" sz="3600" dirty="0">
                <a:solidFill>
                  <a:schemeClr val="bg1"/>
                </a:solidFill>
              </a:rPr>
              <a:t>, while AQ Master wired x1 Ms has the lowest manufacturing cost of </a:t>
            </a:r>
            <a:r>
              <a:rPr lang="en-IN" sz="3600" b="1" dirty="0">
                <a:solidFill>
                  <a:schemeClr val="bg1"/>
                </a:solidFill>
              </a:rPr>
              <a:t>0.89</a:t>
            </a:r>
            <a:r>
              <a:rPr lang="en-IN" sz="36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3891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51E6235-4D3F-A6BC-483D-F82703597658}"/>
              </a:ext>
            </a:extLst>
          </p:cNvPr>
          <p:cNvSpPr/>
          <p:nvPr/>
        </p:nvSpPr>
        <p:spPr>
          <a:xfrm>
            <a:off x="533400" y="723900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Request 6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A83402-CB25-3DCC-1875-B1941E91CA39}"/>
              </a:ext>
            </a:extLst>
          </p:cNvPr>
          <p:cNvSpPr txBox="1"/>
          <p:nvPr/>
        </p:nvSpPr>
        <p:spPr>
          <a:xfrm>
            <a:off x="533400" y="2324100"/>
            <a:ext cx="14706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Generate a report which contains the top 5 customers who received an average high </a:t>
            </a:r>
            <a:r>
              <a:rPr lang="en-IN" sz="3600" dirty="0" err="1">
                <a:solidFill>
                  <a:schemeClr val="bg1"/>
                </a:solidFill>
              </a:rPr>
              <a:t>pre_invoice_discount_pct</a:t>
            </a:r>
            <a:r>
              <a:rPr lang="en-IN" sz="3600" dirty="0">
                <a:solidFill>
                  <a:schemeClr val="bg1"/>
                </a:solidFill>
              </a:rPr>
              <a:t> for the fiscal year 2021 and in the Indian market. The final output contains these fields, </a:t>
            </a:r>
            <a:r>
              <a:rPr lang="en-IN" sz="3600" dirty="0" err="1">
                <a:solidFill>
                  <a:schemeClr val="bg1"/>
                </a:solidFill>
              </a:rPr>
              <a:t>customer_code</a:t>
            </a:r>
            <a:r>
              <a:rPr lang="en-IN" sz="3600" dirty="0">
                <a:solidFill>
                  <a:schemeClr val="bg1"/>
                </a:solidFill>
              </a:rPr>
              <a:t>, customer, </a:t>
            </a:r>
            <a:r>
              <a:rPr lang="en-IN" sz="3600" dirty="0" err="1">
                <a:solidFill>
                  <a:schemeClr val="bg1"/>
                </a:solidFill>
              </a:rPr>
              <a:t>average_discount_percentage</a:t>
            </a:r>
            <a:r>
              <a:rPr lang="en-IN" sz="3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32471B-B3A2-4D2C-D037-A5A1E356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5295900"/>
            <a:ext cx="9753600" cy="39085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242AF0-1CEB-2913-E830-0407F1CE10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2239" y="32657"/>
            <a:ext cx="1278547" cy="125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181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4CAED5-5FCD-C304-5080-9A31B5AFA6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2239" y="32657"/>
            <a:ext cx="1278547" cy="12511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3EF33B-EF1B-AF92-702F-82C48EB0A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337457"/>
            <a:ext cx="8229600" cy="48006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32F22-5D65-BE85-C2F9-FFAE6860FCF0}"/>
              </a:ext>
            </a:extLst>
          </p:cNvPr>
          <p:cNvSpPr/>
          <p:nvPr/>
        </p:nvSpPr>
        <p:spPr>
          <a:xfrm>
            <a:off x="457200" y="5448300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Insights</a:t>
            </a:r>
            <a:r>
              <a:rPr lang="en-IN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F5A909-89A1-573D-B990-E13955F62A70}"/>
              </a:ext>
            </a:extLst>
          </p:cNvPr>
          <p:cNvSpPr txBox="1"/>
          <p:nvPr/>
        </p:nvSpPr>
        <p:spPr>
          <a:xfrm>
            <a:off x="457200" y="6819900"/>
            <a:ext cx="15087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Flipkart received the highest average pre-invoice discount at </a:t>
            </a:r>
            <a:r>
              <a:rPr lang="en-IN" sz="3600" b="1" dirty="0">
                <a:solidFill>
                  <a:schemeClr val="bg1"/>
                </a:solidFill>
              </a:rPr>
              <a:t>30.83%</a:t>
            </a:r>
            <a:r>
              <a:rPr lang="en-IN" sz="3600" dirty="0">
                <a:solidFill>
                  <a:schemeClr val="bg1"/>
                </a:solidFill>
              </a:rPr>
              <a:t>, followed by </a:t>
            </a:r>
            <a:r>
              <a:rPr lang="en-IN" sz="3600" b="1" dirty="0" err="1">
                <a:solidFill>
                  <a:schemeClr val="bg1"/>
                </a:solidFill>
              </a:rPr>
              <a:t>Viveks</a:t>
            </a:r>
            <a:r>
              <a:rPr lang="en-IN" sz="3600" b="1" dirty="0">
                <a:solidFill>
                  <a:schemeClr val="bg1"/>
                </a:solidFill>
              </a:rPr>
              <a:t> (30.38%)</a:t>
            </a:r>
            <a:r>
              <a:rPr lang="en-IN" sz="3600" dirty="0">
                <a:solidFill>
                  <a:schemeClr val="bg1"/>
                </a:solidFill>
              </a:rPr>
              <a:t>, </a:t>
            </a:r>
            <a:r>
              <a:rPr lang="en-IN" sz="3600" b="1" dirty="0">
                <a:solidFill>
                  <a:schemeClr val="bg1"/>
                </a:solidFill>
              </a:rPr>
              <a:t>Ezone (30.28%)</a:t>
            </a:r>
            <a:r>
              <a:rPr lang="en-IN" sz="3600" dirty="0">
                <a:solidFill>
                  <a:schemeClr val="bg1"/>
                </a:solidFill>
              </a:rPr>
              <a:t>, </a:t>
            </a:r>
            <a:r>
              <a:rPr lang="en-IN" sz="3600" b="1" dirty="0">
                <a:solidFill>
                  <a:schemeClr val="bg1"/>
                </a:solidFill>
              </a:rPr>
              <a:t>Croma (30.25%)</a:t>
            </a:r>
            <a:r>
              <a:rPr lang="en-IN" sz="3600" dirty="0">
                <a:solidFill>
                  <a:schemeClr val="bg1"/>
                </a:solidFill>
              </a:rPr>
              <a:t>, and </a:t>
            </a:r>
            <a:r>
              <a:rPr lang="en-IN" sz="3600" b="1" dirty="0">
                <a:solidFill>
                  <a:schemeClr val="bg1"/>
                </a:solidFill>
              </a:rPr>
              <a:t>Amazon (29.33%)</a:t>
            </a:r>
            <a:r>
              <a:rPr lang="en-IN" sz="36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The average pre-invoice discounts for the top 5 customers are very close, ranging from </a:t>
            </a:r>
            <a:r>
              <a:rPr lang="en-IN" sz="3600" b="1" dirty="0">
                <a:solidFill>
                  <a:schemeClr val="bg1"/>
                </a:solidFill>
              </a:rPr>
              <a:t>29.33% to 30.83%</a:t>
            </a:r>
            <a:r>
              <a:rPr lang="en-IN" sz="3600" dirty="0">
                <a:solidFill>
                  <a:schemeClr val="bg1"/>
                </a:solidFill>
              </a:rPr>
              <a:t>, indicating that similar discount percentages were offered to all of them.</a:t>
            </a:r>
          </a:p>
        </p:txBody>
      </p:sp>
    </p:spTree>
    <p:extLst>
      <p:ext uri="{BB962C8B-B14F-4D97-AF65-F5344CB8AC3E}">
        <p14:creationId xmlns:p14="http://schemas.microsoft.com/office/powerpoint/2010/main" val="21209435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7FBDC1-24A3-0842-0DAA-D3F69A73041A}"/>
              </a:ext>
            </a:extLst>
          </p:cNvPr>
          <p:cNvSpPr/>
          <p:nvPr/>
        </p:nvSpPr>
        <p:spPr>
          <a:xfrm>
            <a:off x="381000" y="342900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Request 7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05B9CF-C084-F532-FCD6-30B5FC100D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2239" y="32657"/>
            <a:ext cx="1278547" cy="12511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682A02-B37F-C82D-C2C9-8282433BB65D}"/>
              </a:ext>
            </a:extLst>
          </p:cNvPr>
          <p:cNvSpPr txBox="1"/>
          <p:nvPr/>
        </p:nvSpPr>
        <p:spPr>
          <a:xfrm>
            <a:off x="381000" y="1714500"/>
            <a:ext cx="14478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Get the complete report of the Gross sales amount for the customer “</a:t>
            </a:r>
            <a:r>
              <a:rPr lang="en-IN" sz="3600" dirty="0" err="1">
                <a:solidFill>
                  <a:schemeClr val="bg1"/>
                </a:solidFill>
              </a:rPr>
              <a:t>Atliq</a:t>
            </a:r>
            <a:r>
              <a:rPr lang="en-IN" sz="3600" dirty="0">
                <a:solidFill>
                  <a:schemeClr val="bg1"/>
                </a:solidFill>
              </a:rPr>
              <a:t> Exclusive” for each month. This analysis helps to get an idea of low and high-performing months and take strategic decisions. The final report contains these columns: Month, Year and Gross sales Amount.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37FB8E-7300-095D-A25B-BFAB2AF60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050038"/>
            <a:ext cx="6781800" cy="609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2B8C3C-8C0D-E9A6-48A4-288EEAC66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9495" y="7342691"/>
            <a:ext cx="6019800" cy="277640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735F98B3-29E2-2033-2084-A5A22F848281}"/>
              </a:ext>
            </a:extLst>
          </p:cNvPr>
          <p:cNvSpPr/>
          <p:nvPr/>
        </p:nvSpPr>
        <p:spPr>
          <a:xfrm>
            <a:off x="8241847" y="8420100"/>
            <a:ext cx="685800" cy="914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446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09BFB5-C79D-6C88-1109-AC42901942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2239" y="32657"/>
            <a:ext cx="1278547" cy="12511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65D43B-9DB4-4A6A-7673-0CA5F5668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48986"/>
            <a:ext cx="12420600" cy="5845629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AF348AA-0BEF-FD4B-5DF3-5AE43435DC90}"/>
              </a:ext>
            </a:extLst>
          </p:cNvPr>
          <p:cNvSpPr/>
          <p:nvPr/>
        </p:nvSpPr>
        <p:spPr>
          <a:xfrm>
            <a:off x="381000" y="6057900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Insights</a:t>
            </a:r>
            <a:r>
              <a:rPr lang="en-IN" dirty="0"/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07D05E-796C-DCFC-5B07-EF6D2E74C089}"/>
              </a:ext>
            </a:extLst>
          </p:cNvPr>
          <p:cNvSpPr txBox="1"/>
          <p:nvPr/>
        </p:nvSpPr>
        <p:spPr>
          <a:xfrm>
            <a:off x="381000" y="7456714"/>
            <a:ext cx="16002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Gross sales dropped sharply in March 2020 (0.4M), which may be associated with the business disruption caused by the COVID-19 pandemic.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Gross sales recovered strongly from September 2020, reaching a peak of 20.5M in November 2020, indicating a significant improvement in sales performance.</a:t>
            </a:r>
          </a:p>
        </p:txBody>
      </p:sp>
    </p:spTree>
    <p:extLst>
      <p:ext uri="{BB962C8B-B14F-4D97-AF65-F5344CB8AC3E}">
        <p14:creationId xmlns:p14="http://schemas.microsoft.com/office/powerpoint/2010/main" val="838239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567E00-C642-E2BF-4CEF-7CC84A359D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2239" y="32657"/>
            <a:ext cx="1278547" cy="125115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7C524C-316B-F0A6-AD18-6C0C1F854630}"/>
              </a:ext>
            </a:extLst>
          </p:cNvPr>
          <p:cNvSpPr/>
          <p:nvPr/>
        </p:nvSpPr>
        <p:spPr>
          <a:xfrm>
            <a:off x="517071" y="876300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Request 8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E8CAE-C353-F543-4C82-06CA729CA188}"/>
              </a:ext>
            </a:extLst>
          </p:cNvPr>
          <p:cNvSpPr txBox="1"/>
          <p:nvPr/>
        </p:nvSpPr>
        <p:spPr>
          <a:xfrm>
            <a:off x="533400" y="2670717"/>
            <a:ext cx="14478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In which quarter of 2020, got the maximum </a:t>
            </a:r>
            <a:r>
              <a:rPr lang="en-IN" sz="3600" dirty="0" err="1">
                <a:solidFill>
                  <a:schemeClr val="bg1"/>
                </a:solidFill>
              </a:rPr>
              <a:t>total_sold_quantity</a:t>
            </a:r>
            <a:r>
              <a:rPr lang="en-IN" sz="3600" dirty="0">
                <a:solidFill>
                  <a:schemeClr val="bg1"/>
                </a:solidFill>
              </a:rPr>
              <a:t>? The final output contains these fields sorted by the </a:t>
            </a:r>
            <a:r>
              <a:rPr lang="en-IN" sz="3600" dirty="0" err="1">
                <a:solidFill>
                  <a:schemeClr val="bg1"/>
                </a:solidFill>
              </a:rPr>
              <a:t>total_sold_quantity</a:t>
            </a:r>
            <a:r>
              <a:rPr lang="en-IN" sz="3600" dirty="0">
                <a:solidFill>
                  <a:schemeClr val="bg1"/>
                </a:solidFill>
              </a:rPr>
              <a:t>, Quarter and  </a:t>
            </a:r>
            <a:r>
              <a:rPr lang="en-IN" sz="3600" dirty="0" err="1">
                <a:solidFill>
                  <a:schemeClr val="bg1"/>
                </a:solidFill>
              </a:rPr>
              <a:t>total_sold_quantity</a:t>
            </a:r>
            <a:endParaRPr lang="en-IN" sz="36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6B504F-D219-330C-2A60-B05950489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5143500"/>
            <a:ext cx="64770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788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BE9285-EB6B-F395-30C6-D05B879853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2239" y="32657"/>
            <a:ext cx="1278547" cy="125115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7CB267A-7B1D-2CA5-C3B8-31C114A0C61B}"/>
              </a:ext>
            </a:extLst>
          </p:cNvPr>
          <p:cNvSpPr/>
          <p:nvPr/>
        </p:nvSpPr>
        <p:spPr>
          <a:xfrm>
            <a:off x="609600" y="4838700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Insights</a:t>
            </a:r>
            <a:r>
              <a:rPr lang="en-IN" dirty="0"/>
              <a:t>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4EED6B-20CC-035F-961E-1435F2784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19392"/>
            <a:ext cx="7588382" cy="4572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3B0DF0F-F79E-50D7-6D38-5BC36A9CD27D}"/>
              </a:ext>
            </a:extLst>
          </p:cNvPr>
          <p:cNvSpPr txBox="1"/>
          <p:nvPr/>
        </p:nvSpPr>
        <p:spPr>
          <a:xfrm>
            <a:off x="609600" y="6286500"/>
            <a:ext cx="15087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Q1 recorded the highest total sold quantity at 7.0M units, followed by Q2 (6.6M) and Q4 (5.0M).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Total sold quantity dropped sharply in Q3 to 2.1M units, indicating a significant decline in demand. Sales recovered in Q4, increasing to 5.0M units.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The sharp decline in Q3 may be associated with the business disruption caused by the COVID-19 pandemic, while Q4 shows a recovery in sales.</a:t>
            </a:r>
          </a:p>
        </p:txBody>
      </p:sp>
    </p:spTree>
    <p:extLst>
      <p:ext uri="{BB962C8B-B14F-4D97-AF65-F5344CB8AC3E}">
        <p14:creationId xmlns:p14="http://schemas.microsoft.com/office/powerpoint/2010/main" val="1410174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B5AD07-3CD5-A4B8-A82F-9B2E156316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2239" y="32657"/>
            <a:ext cx="1278547" cy="125115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05C792-E37F-3078-D786-C596A6BF1E5F}"/>
              </a:ext>
            </a:extLst>
          </p:cNvPr>
          <p:cNvSpPr/>
          <p:nvPr/>
        </p:nvSpPr>
        <p:spPr>
          <a:xfrm>
            <a:off x="533400" y="952500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Request 9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838036-7E0D-5E1B-6AE3-2FD3D6E7EEA2}"/>
              </a:ext>
            </a:extLst>
          </p:cNvPr>
          <p:cNvSpPr txBox="1"/>
          <p:nvPr/>
        </p:nvSpPr>
        <p:spPr>
          <a:xfrm>
            <a:off x="533400" y="2628900"/>
            <a:ext cx="13563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Which channel helped to bring more gross sales in the fiscal year 2021 and the percentage of contribution? The final output contains these fields, channel, </a:t>
            </a:r>
            <a:r>
              <a:rPr lang="en-IN" sz="3600" dirty="0" err="1">
                <a:solidFill>
                  <a:schemeClr val="bg1"/>
                </a:solidFill>
              </a:rPr>
              <a:t>gross_sales_mln</a:t>
            </a:r>
            <a:r>
              <a:rPr lang="en-IN" sz="3600" dirty="0">
                <a:solidFill>
                  <a:schemeClr val="bg1"/>
                </a:solidFill>
              </a:rPr>
              <a:t> and percentage.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34A5F3-D89B-3480-6153-18D33491F9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800" y="5524500"/>
            <a:ext cx="82296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89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487AD5-68D4-411F-0B0E-C2A7FF197A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2239" y="32657"/>
            <a:ext cx="1278547" cy="125115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F06651-D2F6-8D88-F413-644788550BC9}"/>
              </a:ext>
            </a:extLst>
          </p:cNvPr>
          <p:cNvSpPr/>
          <p:nvPr/>
        </p:nvSpPr>
        <p:spPr>
          <a:xfrm>
            <a:off x="457200" y="5154386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Insights</a:t>
            </a:r>
            <a:r>
              <a:rPr lang="en-IN" dirty="0"/>
              <a:t>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6B598D-7399-4697-63AB-7DE031D8B238}"/>
              </a:ext>
            </a:extLst>
          </p:cNvPr>
          <p:cNvSpPr txBox="1"/>
          <p:nvPr/>
        </p:nvSpPr>
        <p:spPr>
          <a:xfrm>
            <a:off x="457200" y="6591300"/>
            <a:ext cx="16230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Retailer is the highest performing channel, contributing 1219.08 M in gross sales, which accounts for 73.23% of the total gross sales in FY2021.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Direct and Distributor channels contributed 15.47% and 11.30%, respectively, together accounting for approximately 26.77% of the total gross sales 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The business is highly dependent on the Retailer channel , as it generates nearly three - fourths of the total gross sales.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89C0C5-7478-A7D6-F09B-A5939F998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600" y="64186"/>
            <a:ext cx="8153400" cy="477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250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6BFDC5-5004-727C-8E07-E8B36353A4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9453" y="0"/>
            <a:ext cx="1278547" cy="125115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61C261-21A1-A288-9DE5-8A62546EC97A}"/>
              </a:ext>
            </a:extLst>
          </p:cNvPr>
          <p:cNvSpPr/>
          <p:nvPr/>
        </p:nvSpPr>
        <p:spPr>
          <a:xfrm>
            <a:off x="533400" y="674214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Request 10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A93169-FAC0-8471-8112-19F0183A64A8}"/>
              </a:ext>
            </a:extLst>
          </p:cNvPr>
          <p:cNvSpPr txBox="1"/>
          <p:nvPr/>
        </p:nvSpPr>
        <p:spPr>
          <a:xfrm>
            <a:off x="533400" y="2247900"/>
            <a:ext cx="1432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</a:rPr>
              <a:t>Get the Top 3 products in each division that have a high </a:t>
            </a:r>
            <a:r>
              <a:rPr lang="en-IN" sz="3600" dirty="0" err="1">
                <a:solidFill>
                  <a:schemeClr val="bg1"/>
                </a:solidFill>
              </a:rPr>
              <a:t>total_sold_quantity</a:t>
            </a:r>
            <a:r>
              <a:rPr lang="en-IN" sz="3600" dirty="0">
                <a:solidFill>
                  <a:schemeClr val="bg1"/>
                </a:solidFill>
              </a:rPr>
              <a:t> in the </a:t>
            </a:r>
            <a:r>
              <a:rPr lang="en-IN" sz="3600" dirty="0" err="1">
                <a:solidFill>
                  <a:schemeClr val="bg1"/>
                </a:solidFill>
              </a:rPr>
              <a:t>fiscal_year</a:t>
            </a:r>
            <a:r>
              <a:rPr lang="en-IN" sz="3600" dirty="0">
                <a:solidFill>
                  <a:schemeClr val="bg1"/>
                </a:solidFill>
              </a:rPr>
              <a:t> 2021? The final output contains these fields, division, </a:t>
            </a:r>
            <a:r>
              <a:rPr lang="en-IN" sz="3600" dirty="0" err="1">
                <a:solidFill>
                  <a:schemeClr val="bg1"/>
                </a:solidFill>
              </a:rPr>
              <a:t>product_code</a:t>
            </a:r>
            <a:r>
              <a:rPr lang="en-IN" sz="3600" dirty="0">
                <a:solidFill>
                  <a:schemeClr val="bg1"/>
                </a:solidFill>
              </a:rPr>
              <a:t> , product, </a:t>
            </a:r>
            <a:r>
              <a:rPr lang="en-IN" sz="3600" dirty="0" err="1">
                <a:solidFill>
                  <a:schemeClr val="bg1"/>
                </a:solidFill>
              </a:rPr>
              <a:t>total_sold_quantity</a:t>
            </a:r>
            <a:r>
              <a:rPr lang="en-IN" sz="3600" dirty="0">
                <a:solidFill>
                  <a:schemeClr val="bg1"/>
                </a:solidFill>
              </a:rPr>
              <a:t> and  </a:t>
            </a:r>
            <a:r>
              <a:rPr lang="en-IN" sz="3600" dirty="0" err="1">
                <a:solidFill>
                  <a:schemeClr val="bg1"/>
                </a:solidFill>
              </a:rPr>
              <a:t>rank_order</a:t>
            </a:r>
            <a:r>
              <a:rPr lang="en-IN" sz="3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CE6D12-58CD-264D-CEB6-83A8A2FE75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" t="2217" b="2821"/>
          <a:stretch>
            <a:fillRect/>
          </a:stretch>
        </p:blipFill>
        <p:spPr>
          <a:xfrm>
            <a:off x="2895600" y="4762500"/>
            <a:ext cx="99822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294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01879F-E09A-EDDB-B468-27535491E3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2239" y="32657"/>
            <a:ext cx="1278547" cy="12511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1E8E61-D835-DFBC-A149-A284D4D3F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43543"/>
            <a:ext cx="12192000" cy="51054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43460B-A138-B176-1897-9B06D944EE91}"/>
              </a:ext>
            </a:extLst>
          </p:cNvPr>
          <p:cNvSpPr/>
          <p:nvPr/>
        </p:nvSpPr>
        <p:spPr>
          <a:xfrm>
            <a:off x="304800" y="5295900"/>
            <a:ext cx="1981200" cy="1219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Insights</a:t>
            </a:r>
            <a:r>
              <a:rPr lang="en-IN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791E96-D35C-C57D-00E5-F55C07635635}"/>
              </a:ext>
            </a:extLst>
          </p:cNvPr>
          <p:cNvSpPr txBox="1"/>
          <p:nvPr/>
        </p:nvSpPr>
        <p:spPr>
          <a:xfrm>
            <a:off x="304800" y="6743700"/>
            <a:ext cx="15773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N &amp; S Division</a:t>
            </a:r>
            <a:r>
              <a:rPr lang="en-IN" sz="3600" dirty="0">
                <a:solidFill>
                  <a:schemeClr val="bg1"/>
                </a:solidFill>
              </a:rPr>
              <a:t> has the highest-selling products. </a:t>
            </a:r>
            <a:r>
              <a:rPr lang="en-IN" sz="3600" b="1" dirty="0">
                <a:solidFill>
                  <a:schemeClr val="bg1"/>
                </a:solidFill>
              </a:rPr>
              <a:t>AQ Pen Drive 2 IN 1</a:t>
            </a:r>
            <a:r>
              <a:rPr lang="en-IN" sz="3600" dirty="0">
                <a:solidFill>
                  <a:schemeClr val="bg1"/>
                </a:solidFill>
              </a:rPr>
              <a:t> is the best-selling product with </a:t>
            </a:r>
            <a:r>
              <a:rPr lang="en-IN" sz="3600" b="1" dirty="0">
                <a:solidFill>
                  <a:schemeClr val="bg1"/>
                </a:solidFill>
              </a:rPr>
              <a:t>701.4K units</a:t>
            </a:r>
            <a:r>
              <a:rPr lang="en-IN" sz="36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P &amp; A Division</a:t>
            </a:r>
            <a:r>
              <a:rPr lang="en-IN" sz="3600" dirty="0">
                <a:solidFill>
                  <a:schemeClr val="bg1"/>
                </a:solidFill>
              </a:rPr>
              <a:t> is led by </a:t>
            </a:r>
            <a:r>
              <a:rPr lang="en-IN" sz="3600" b="1" dirty="0">
                <a:solidFill>
                  <a:schemeClr val="bg1"/>
                </a:solidFill>
              </a:rPr>
              <a:t>AQ Gamers Ms</a:t>
            </a:r>
            <a:r>
              <a:rPr lang="en-IN" sz="3600" dirty="0">
                <a:solidFill>
                  <a:schemeClr val="bg1"/>
                </a:solidFill>
              </a:rPr>
              <a:t>, followed by two </a:t>
            </a:r>
            <a:r>
              <a:rPr lang="en-IN" sz="3600" b="1" dirty="0">
                <a:solidFill>
                  <a:schemeClr val="bg1"/>
                </a:solidFill>
              </a:rPr>
              <a:t>AQ Maxima Ms</a:t>
            </a:r>
            <a:r>
              <a:rPr lang="en-IN" sz="3600" dirty="0">
                <a:solidFill>
                  <a:schemeClr val="bg1"/>
                </a:solidFill>
              </a:rPr>
              <a:t> products.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PC Division</a:t>
            </a:r>
            <a:r>
              <a:rPr lang="en-IN" sz="3600" dirty="0">
                <a:solidFill>
                  <a:schemeClr val="bg1"/>
                </a:solidFill>
              </a:rPr>
              <a:t> has the lowest sales among all divisions. </a:t>
            </a:r>
            <a:r>
              <a:rPr lang="en-IN" sz="3600" b="1" dirty="0">
                <a:solidFill>
                  <a:schemeClr val="bg1"/>
                </a:solidFill>
              </a:rPr>
              <a:t>AQ Digit</a:t>
            </a:r>
            <a:r>
              <a:rPr lang="en-IN" sz="3600" dirty="0">
                <a:solidFill>
                  <a:schemeClr val="bg1"/>
                </a:solidFill>
              </a:rPr>
              <a:t> and </a:t>
            </a:r>
            <a:r>
              <a:rPr lang="en-IN" sz="3600" b="1" dirty="0">
                <a:solidFill>
                  <a:schemeClr val="bg1"/>
                </a:solidFill>
              </a:rPr>
              <a:t>AQ Velocity</a:t>
            </a:r>
            <a:r>
              <a:rPr lang="en-IN" sz="3600" dirty="0">
                <a:solidFill>
                  <a:schemeClr val="bg1"/>
                </a:solidFill>
              </a:rPr>
              <a:t> are its top-selling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</a:rPr>
              <a:t>Overall, </a:t>
            </a:r>
            <a:r>
              <a:rPr lang="en-IN" sz="3600" b="1" dirty="0">
                <a:solidFill>
                  <a:schemeClr val="bg1"/>
                </a:solidFill>
              </a:rPr>
              <a:t>N &amp; S performs the best</a:t>
            </a:r>
            <a:r>
              <a:rPr lang="en-IN" sz="3600" dirty="0">
                <a:solidFill>
                  <a:schemeClr val="bg1"/>
                </a:solidFill>
              </a:rPr>
              <a:t>, while </a:t>
            </a:r>
            <a:r>
              <a:rPr lang="en-IN" sz="3600" b="1" dirty="0">
                <a:solidFill>
                  <a:schemeClr val="bg1"/>
                </a:solidFill>
              </a:rPr>
              <a:t>PC has the lowest demand</a:t>
            </a:r>
            <a:r>
              <a:rPr lang="en-IN" sz="36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1592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826BCD-B4AA-F166-BCF3-C00E5311E03D}"/>
              </a:ext>
            </a:extLst>
          </p:cNvPr>
          <p:cNvSpPr txBox="1"/>
          <p:nvPr/>
        </p:nvSpPr>
        <p:spPr>
          <a:xfrm>
            <a:off x="762000" y="733871"/>
            <a:ext cx="8153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IN" dirty="0"/>
              <a:t>Recommendations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9302D-B039-2563-2CB4-4AFFB70BA0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2239" y="32657"/>
            <a:ext cx="1278547" cy="12511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5FC727-82CA-CA93-E2E3-D90312320077}"/>
              </a:ext>
            </a:extLst>
          </p:cNvPr>
          <p:cNvSpPr txBox="1"/>
          <p:nvPr/>
        </p:nvSpPr>
        <p:spPr>
          <a:xfrm>
            <a:off x="762000" y="2705100"/>
            <a:ext cx="15011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Increase focus on top-selling products</a:t>
            </a:r>
            <a:r>
              <a:rPr lang="en-IN" sz="3600" dirty="0">
                <a:solidFill>
                  <a:schemeClr val="bg1"/>
                </a:solidFill>
              </a:rPr>
              <a:t> like AQ Pen Drive 2 IN 1 to increase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Improve marketing for low-performing products</a:t>
            </a:r>
            <a:r>
              <a:rPr lang="en-IN" sz="3600" dirty="0">
                <a:solidFill>
                  <a:schemeClr val="bg1"/>
                </a:solidFill>
              </a:rPr>
              <a:t> to increase customer demand.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Expand the Retailer channel</a:t>
            </a:r>
            <a:r>
              <a:rPr lang="en-IN" sz="3600" dirty="0">
                <a:solidFill>
                  <a:schemeClr val="bg1"/>
                </a:solidFill>
              </a:rPr>
              <a:t>, as it generates the highest gross sales.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Offer more discounts during festival seasons</a:t>
            </a:r>
            <a:r>
              <a:rPr lang="en-IN" sz="3600" dirty="0">
                <a:solidFill>
                  <a:schemeClr val="bg1"/>
                </a:solidFill>
              </a:rPr>
              <a:t> to boost sales, as demand increases during this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b="1" dirty="0" err="1">
                <a:solidFill>
                  <a:schemeClr val="bg1"/>
                </a:solidFill>
              </a:rPr>
              <a:t>Analyze</a:t>
            </a:r>
            <a:r>
              <a:rPr lang="en-IN" sz="3600" b="1" dirty="0">
                <a:solidFill>
                  <a:schemeClr val="bg1"/>
                </a:solidFill>
              </a:rPr>
              <a:t> the reasons for low sales in the PC division</a:t>
            </a:r>
            <a:r>
              <a:rPr lang="en-IN" sz="3600" dirty="0">
                <a:solidFill>
                  <a:schemeClr val="bg1"/>
                </a:solidFill>
              </a:rPr>
              <a:t> and improve its product strategy.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</a:rPr>
              <a:t>Maintain enough stock for high-demand products</a:t>
            </a:r>
            <a:r>
              <a:rPr lang="en-IN" sz="3600" dirty="0">
                <a:solidFill>
                  <a:schemeClr val="bg1"/>
                </a:solidFill>
              </a:rPr>
              <a:t> to avoid stock shortages during peak sales periods.</a:t>
            </a:r>
          </a:p>
        </p:txBody>
      </p:sp>
    </p:spTree>
    <p:extLst>
      <p:ext uri="{BB962C8B-B14F-4D97-AF65-F5344CB8AC3E}">
        <p14:creationId xmlns:p14="http://schemas.microsoft.com/office/powerpoint/2010/main" val="2255203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BD26D7-D155-F340-388B-ED264F25909A}"/>
              </a:ext>
            </a:extLst>
          </p:cNvPr>
          <p:cNvSpPr txBox="1"/>
          <p:nvPr/>
        </p:nvSpPr>
        <p:spPr>
          <a:xfrm>
            <a:off x="5791200" y="3695700"/>
            <a:ext cx="6019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chemeClr val="bg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365345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1891</TotalTime>
  <Words>1248</Words>
  <Application>Microsoft Office PowerPoint</Application>
  <PresentationFormat>Custom</PresentationFormat>
  <Paragraphs>109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Ruda Heavy</vt:lpstr>
      <vt:lpstr>Liberation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Proposal Business Presentation in Black Green Grey Simple Corporate Dark Style</dc:title>
  <cp:lastModifiedBy>Rohan Dhainje</cp:lastModifiedBy>
  <cp:revision>16</cp:revision>
  <dcterms:created xsi:type="dcterms:W3CDTF">2006-08-16T00:00:00Z</dcterms:created>
  <dcterms:modified xsi:type="dcterms:W3CDTF">2026-07-07T14:01:17Z</dcterms:modified>
  <dc:identifier>DAHN5Ao9Vus</dc:identifier>
</cp:coreProperties>
</file>